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864"/>
                </a:solidFill>
                <a:latin typeface="Arial"/>
              </a:rPr>
              <a:t>Annual Revenue by Year (2022–2025)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BD-4A28-959E-07C2061D1D8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ABD-4A28-959E-07C2061D1D8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ABD-4A28-959E-07C2061D1D81}"/>
              </c:ext>
            </c:extLst>
          </c:dPt>
          <c:dPt>
            <c:idx val="3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BD-4A28-959E-07C2061D1D81}"/>
              </c:ext>
            </c:extLst>
          </c:dPt>
          <c:dLbls>
            <c:numFmt formatCode="&quot;$&quot;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1011355.52</c:v>
                </c:pt>
                <c:pt idx="1">
                  <c:v>1487890.72</c:v>
                </c:pt>
                <c:pt idx="2">
                  <c:v>1491467.81</c:v>
                </c:pt>
                <c:pt idx="3">
                  <c:v>2421918.17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ABD-4A28-959E-07C2061D1D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A6-4294-96F2-6738D3FA40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0A6-4294-96F2-6738D3FA40C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0A6-4294-96F2-6738D3FA40C8}"/>
              </c:ext>
            </c:extLst>
          </c:dPt>
          <c:dPt>
            <c:idx val="3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A6-4294-96F2-6738D3FA40C8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1011355.52</c:v>
                </c:pt>
                <c:pt idx="1">
                  <c:v>1487890.72</c:v>
                </c:pt>
                <c:pt idx="2">
                  <c:v>1491467.81</c:v>
                </c:pt>
                <c:pt idx="3">
                  <c:v>2421918.17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A6-4294-96F2-6738D3FA40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09491722188574"/>
          <c:y val="3.0193236714975844E-2"/>
          <c:w val="0.70451956726563025"/>
          <c:h val="0.7964134238654950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dPt>
            <c:idx val="0"/>
            <c:bubble3D val="0"/>
            <c:explosion val="12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0A-4544-9F9F-70D37F995CD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0A-4544-9F9F-70D37F995CD4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0A-4544-9F9F-70D37F995CD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0A-4544-9F9F-70D37F995CD4}"/>
              </c:ext>
            </c:extLst>
          </c:dPt>
          <c:dPt>
            <c:idx val="4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6D0A-4544-9F9F-70D37F995CD4}"/>
              </c:ext>
            </c:extLst>
          </c:dPt>
          <c:dPt>
            <c:idx val="5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6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6D0A-4544-9F9F-70D37F995CD4}"/>
              </c:ext>
            </c:extLst>
          </c:dPt>
          <c:cat>
            <c:strRef>
              <c:f>Sheet1!$A$2:$A$7</c:f>
              <c:strCache>
                <c:ptCount val="6"/>
                <c:pt idx="0">
                  <c:v>Technology 73.6%</c:v>
                </c:pt>
                <c:pt idx="1">
                  <c:v>Textbooks 13.1%</c:v>
                </c:pt>
                <c:pt idx="2">
                  <c:v>Apparel 5.3%</c:v>
                </c:pt>
                <c:pt idx="3">
                  <c:v>Art Supplies 4.4%</c:v>
                </c:pt>
                <c:pt idx="4">
                  <c:v>Books 1.8%</c:v>
                </c:pt>
                <c:pt idx="5">
                  <c:v>Stationery 1.8%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1783033.66</c:v>
                </c:pt>
                <c:pt idx="1">
                  <c:v>316361.77</c:v>
                </c:pt>
                <c:pt idx="2">
                  <c:v>128662.22</c:v>
                </c:pt>
                <c:pt idx="3">
                  <c:v>105935.84</c:v>
                </c:pt>
                <c:pt idx="4">
                  <c:v>45521.48</c:v>
                </c:pt>
                <c:pt idx="5">
                  <c:v>42403.199999999997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D0A-4544-9F9F-70D37F995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9038209166161922E-2"/>
          <c:y val="0.89605110502491525"/>
          <c:w val="0.91925243118648647"/>
          <c:h val="7.97943056031040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73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Territory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EmporiUm Sales Performance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– 2025  |  In-Store &amp; Online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OVERVIEW  |  Jan 1, 2022 – Dec 31, 2025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65960" cy="91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$6.41M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In-Store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Colorado, all stores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6596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46,498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Colorado stores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19659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Months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Period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2022 – Dec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1965960" cy="914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$133.7K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03136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03136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average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468880"/>
          <a:ext cx="8595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REVENUE GROWTH  |  COLORADO IN-STORE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914400"/>
          <a:ext cx="3108960" cy="22860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47.1%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62.4%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8521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+62.4% growth (+$930K)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single-year increase in the period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429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IN- STORE vs. ONLINE SALES  |  WEST REGION COMPARISON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20140"/>
            <a:ext cx="39319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201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In-Store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22341"/>
              </p:ext>
            </p:extLst>
          </p:nvPr>
        </p:nvGraphicFramePr>
        <p:xfrm>
          <a:off x="274320" y="1623061"/>
          <a:ext cx="3931920" cy="250806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$137.95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Jim 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–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112520"/>
            <a:ext cx="393192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Sales – West Region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28561"/>
              </p:ext>
            </p:extLst>
          </p:nvPr>
        </p:nvGraphicFramePr>
        <p:xfrm>
          <a:off x="4937760" y="1623061"/>
          <a:ext cx="3931920" cy="250806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$12.45M*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125,000+*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$99.55*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Gilmore / Kelly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–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206240" y="25831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CATEGORY  |  2025  |  COLORADO IN-STORE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84483554"/>
              </p:ext>
            </p:extLst>
          </p:nvPr>
        </p:nvGraphicFramePr>
        <p:xfrm>
          <a:off x="182880" y="685800"/>
          <a:ext cx="4754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22960"/>
            <a:ext cx="374904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82296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85232" y="9326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73.6%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53796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85232" y="1572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$1.78M — dominant category every year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20640" y="2194560"/>
            <a:ext cx="374904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20640" y="219456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85232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3796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85232" y="29443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$316K — strong Q1 seasonality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120640" y="3566160"/>
            <a:ext cx="374904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120640" y="3566160"/>
            <a:ext cx="64008" cy="11887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85232" y="36758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2600" dirty="0">
              <a:solidFill>
                <a:schemeClr val="accent6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3796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85232" y="4315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$129K — fastest growing category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-76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STORE PERFORMANCE RANKINGS  |  TOP PERFORMERS &amp; STORES NEEDING SUPPORT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73252"/>
            <a:ext cx="420624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564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TOP PERFORMING STORES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47313"/>
              </p:ext>
            </p:extLst>
          </p:nvPr>
        </p:nvGraphicFramePr>
        <p:xfrm>
          <a:off x="320040" y="1417320"/>
          <a:ext cx="4251960" cy="29260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revenue all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Greeley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growth 2024–2025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transaction volume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 Collins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Rising steadily since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Boulder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Tech-dominant, solid 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709160" y="832104"/>
            <a:ext cx="42062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STORES NEEDING SUPPORT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776715"/>
              </p:ext>
            </p:extLst>
          </p:nvPr>
        </p:nvGraphicFramePr>
        <p:xfrm>
          <a:off x="4709160" y="1402080"/>
          <a:ext cx="4206240" cy="29413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revenue, high seasonal dips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Castle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growth, below avg 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Milliken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product mix 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Berthoud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count declining 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Wheat Ridge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stagnant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STORE LOCATIONS  |  18 TOTAL STORES  |  COLOR-CODED BY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795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078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00200" y="932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53896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1499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Berthoud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0020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157984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62072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>
            <a:spLocks/>
          </p:cNvSpPr>
          <p:nvPr/>
        </p:nvSpPr>
        <p:spPr>
          <a:xfrm>
            <a:off x="3931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Castle Rock</a:t>
            </a:r>
            <a:endParaRPr lang="en-US" sz="1100" dirty="0"/>
          </a:p>
        </p:txBody>
      </p:sp>
      <p:sp>
        <p:nvSpPr>
          <p:cNvPr id="22" name="Text 20"/>
          <p:cNvSpPr>
            <a:spLocks/>
          </p:cNvSpPr>
          <p:nvPr/>
        </p:nvSpPr>
        <p:spPr>
          <a:xfrm>
            <a:off x="39319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704</a:t>
            </a:r>
            <a:endParaRPr lang="en-US" sz="800" dirty="0"/>
          </a:p>
        </p:txBody>
      </p:sp>
      <p:sp>
        <p:nvSpPr>
          <p:cNvPr id="23" name="Text 21"/>
          <p:cNvSpPr>
            <a:spLocks/>
          </p:cNvSpPr>
          <p:nvPr/>
        </p:nvSpPr>
        <p:spPr>
          <a:xfrm>
            <a:off x="160020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566160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002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270248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Englewood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" y="4599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0020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749808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64992" y="795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Collins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64992" y="1078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0" y="932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1453896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64992" y="1499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Junction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64992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2157984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64992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Greeley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6499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2862072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649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6499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3566160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649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Littleton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64992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0" y="4270248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64992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Loveland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599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72200" y="749808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36792" y="795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Milliken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36792" y="1078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543800" y="932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72200" y="1453896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336792" y="1499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Castle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36792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54380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72200" y="2157984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36792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Parker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33679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715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54380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172200" y="2862072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3367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Sedalia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33679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4380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72200" y="3566160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3367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Thornton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336792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717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5438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172200" y="4270248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336792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 Ridge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336792" y="4599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718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54380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93192" y="4916424"/>
            <a:ext cx="182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66928" y="4873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 (5)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00400" y="4901184"/>
            <a:ext cx="182880" cy="164592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493008" y="48874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(8)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192012" y="4924044"/>
            <a:ext cx="182880" cy="164592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419088" y="48874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 (5)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— WHERE TO FOCUS SALES ATTENTION  |  RECOMMENDATIONS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64008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22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Denver &amp; Greeley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 stores consistently. Allocate more inventory, run local promotions, and staff up for Q1 back-to-school.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64008" cy="1325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822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822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Sedalia, New Castle &amp; Milliken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2801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stores. Schedule territory visits. 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64008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2677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Technology (73% of Revenue)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72491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$1.78M in 2025. Prioritize IT restocking and upsell bundles across all 18 stores before semester starts.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22677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 on Textbook Season (Jan/Feb)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72491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 spike every Q1. Partner with Boulder, Fort Collins, and Greeley campuses now.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4269" y="3660648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80261" y="3657600"/>
            <a:ext cx="64008" cy="13258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02180" y="37581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87752" y="37261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Apparel — Fastest Rising Category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02180" y="40919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apparel campaigns at Aurora, Denver, and Boulder.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4169664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Territory  |  West Region  |  Sales Analysis 2022–2025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stores  |  $6.41M total revenue  |  46,498 transactions  |  48-month period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Manager: Jim Heck  |  Regional Director: Cassie Chambers  |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611</Words>
  <Application>Microsoft Office PowerPoint</Application>
  <PresentationFormat>On-screen Show (16:9)</PresentationFormat>
  <Paragraphs>210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Territory Sales Analysis</dc:title>
  <dc:subject>PptxGenJS Presentation</dc:subject>
  <dc:creator>Jim Heck</dc:creator>
  <cp:lastModifiedBy>sthefanie ramirez</cp:lastModifiedBy>
  <cp:revision>3</cp:revision>
  <dcterms:created xsi:type="dcterms:W3CDTF">2026-05-01T08:39:45Z</dcterms:created>
  <dcterms:modified xsi:type="dcterms:W3CDTF">2026-05-01T11:12:42Z</dcterms:modified>
</cp:coreProperties>
</file>