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3864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F3864"/>
                </a:solidFill>
                <a:latin typeface="Arial"/>
              </a:rPr>
              <a:t>Annual Revenue by Year (2022–2025)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BD-4A28-959E-07C2061D1D8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ABD-4A28-959E-07C2061D1D8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ABD-4A28-959E-07C2061D1D81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BD-4A28-959E-07C2061D1D81}"/>
              </c:ext>
            </c:extLst>
          </c:dPt>
          <c:dLbls>
            <c:numFmt formatCode="&quot;$&quot;#,##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1011355.52</c:v>
                </c:pt>
                <c:pt idx="1">
                  <c:v>1487890.72</c:v>
                </c:pt>
                <c:pt idx="2">
                  <c:v>1491467.81</c:v>
                </c:pt>
                <c:pt idx="3">
                  <c:v>2421918.17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ABD-4A28-959E-07C2061D1D8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0A6-4294-96F2-6738D3FA40C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0A6-4294-96F2-6738D3FA40C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0A6-4294-96F2-6738D3FA40C8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0A6-4294-96F2-6738D3FA40C8}"/>
              </c:ext>
            </c:extLst>
          </c:dPt>
          <c:dLbls>
            <c:numFmt formatCode="&quot;$&quot;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1011355.52</c:v>
                </c:pt>
                <c:pt idx="1">
                  <c:v>1487890.72</c:v>
                </c:pt>
                <c:pt idx="2">
                  <c:v>1491467.81</c:v>
                </c:pt>
                <c:pt idx="3">
                  <c:v>2421918.17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0A6-4294-96F2-6738D3FA40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109491722188574"/>
          <c:y val="3.0193236714975844E-2"/>
          <c:w val="0.70451956726563025"/>
          <c:h val="0.7964134238654950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dPt>
            <c:idx val="0"/>
            <c:bubble3D val="0"/>
            <c:explosion val="12"/>
            <c:spPr>
              <a:gradFill rotWithShape="1">
                <a:gsLst>
                  <a:gs pos="0">
                    <a:schemeClr val="accent1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1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1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1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6D0A-4544-9F9F-70D37F995CD4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2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2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2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6D0A-4544-9F9F-70D37F995CD4}"/>
              </c:ext>
            </c:extLst>
          </c:dPt>
          <c:dPt>
            <c:idx val="2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 w="9525" cap="flat" cmpd="sng" algn="ctr">
                <a:solidFill>
                  <a:schemeClr val="accent3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6D0A-4544-9F9F-70D37F995CD4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lumMod val="110000"/>
                      <a:satMod val="105000"/>
                      <a:tint val="67000"/>
                    </a:schemeClr>
                  </a:gs>
                  <a:gs pos="50000">
                    <a:schemeClr val="accent4">
                      <a:lumMod val="105000"/>
                      <a:satMod val="103000"/>
                      <a:tint val="73000"/>
                    </a:schemeClr>
                  </a:gs>
                  <a:gs pos="100000">
                    <a:schemeClr val="accent4">
                      <a:lumMod val="105000"/>
                      <a:satMod val="109000"/>
                      <a:tint val="81000"/>
                    </a:schemeClr>
                  </a:gs>
                </a:gsLst>
                <a:lin ang="5400000" scaled="0"/>
              </a:gradFill>
              <a:ln w="9525" cap="flat" cmpd="sng" algn="ctr">
                <a:solidFill>
                  <a:schemeClr val="accent4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6D0A-4544-9F9F-70D37F995CD4}"/>
              </c:ext>
            </c:extLst>
          </c:dPt>
          <c:dPt>
            <c:idx val="4"/>
            <c:bubble3D val="0"/>
            <c:spPr>
              <a:solidFill>
                <a:schemeClr val="tx1">
                  <a:lumMod val="50000"/>
                  <a:lumOff val="50000"/>
                </a:schemeClr>
              </a:solidFill>
              <a:ln w="9525" cap="flat" cmpd="sng" algn="ctr">
                <a:solidFill>
                  <a:schemeClr val="accent5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6D0A-4544-9F9F-70D37F995CD4}"/>
              </c:ext>
            </c:extLst>
          </c:dPt>
          <c:dPt>
            <c:idx val="5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9525" cap="flat" cmpd="sng" algn="ctr">
                <a:solidFill>
                  <a:schemeClr val="accent6">
                    <a:shade val="95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6D0A-4544-9F9F-70D37F995CD4}"/>
              </c:ext>
            </c:extLst>
          </c:dPt>
          <c:cat>
            <c:strRef>
              <c:f>Sheet1!$A$2:$A$7</c:f>
              <c:strCache>
                <c:ptCount val="6"/>
                <c:pt idx="0">
                  <c:v>Technology 73.6%</c:v>
                </c:pt>
                <c:pt idx="1">
                  <c:v>Textbooks 13.1%</c:v>
                </c:pt>
                <c:pt idx="2">
                  <c:v>Apparel 5.3%</c:v>
                </c:pt>
                <c:pt idx="3">
                  <c:v>Art Supplies 4.4%</c:v>
                </c:pt>
                <c:pt idx="4">
                  <c:v>Books 1.8%</c:v>
                </c:pt>
                <c:pt idx="5">
                  <c:v>Stationery 1.8%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1783033.66</c:v>
                </c:pt>
                <c:pt idx="1">
                  <c:v>316361.77</c:v>
                </c:pt>
                <c:pt idx="2">
                  <c:v>128662.22</c:v>
                </c:pt>
                <c:pt idx="3">
                  <c:v>105935.84</c:v>
                </c:pt>
                <c:pt idx="4">
                  <c:v>45521.48</c:v>
                </c:pt>
                <c:pt idx="5">
                  <c:v>42403.199999999997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D0A-4544-9F9F-70D37F995C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9038209166161922E-2"/>
          <c:y val="0.89605110502491525"/>
          <c:w val="0.91925243118648647"/>
          <c:h val="7.97943056031040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/>
    <cs:fillRef idx="2">
      <cs:styleClr val="auto"/>
    </cs:fillRef>
    <cs:effectRef idx="1"/>
    <cs:fontRef idx="minor">
      <a:schemeClr val="dk1"/>
    </cs:fontRef>
    <cs:spPr/>
  </cs:dataPoint3D>
  <cs:dataPointLine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158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4"/>
  <cs:dataPointWirefram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2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735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Territory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EmporiUm Sales Performance Analysis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– 2025  |  In-Store &amp; Online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 OVERVIEW  |  Jan 1, 2022 – Dec 31, 2025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96596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65960" cy="914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$6.41M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In-Store Revenue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Colorado, all stores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777240"/>
            <a:ext cx="196596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777240"/>
            <a:ext cx="1965960" cy="91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46,498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50592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50592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Colorado stores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26864" y="777240"/>
            <a:ext cx="196596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26864" y="777240"/>
            <a:ext cx="1965960" cy="9144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26864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Months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26864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Period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26864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2022 – Dec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777240"/>
            <a:ext cx="1965960" cy="150876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777240"/>
            <a:ext cx="1965960" cy="9144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91440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$133.7K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03136" y="160020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Monthly Revenue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03136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average</a:t>
            </a:r>
            <a:endParaRPr lang="en-US" sz="900" dirty="0"/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1317525743"/>
              </p:ext>
            </p:extLst>
          </p:nvPr>
        </p:nvGraphicFramePr>
        <p:xfrm>
          <a:off x="274320" y="2468880"/>
          <a:ext cx="8595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YEAR-OVER-YEAR REVENUE GROWTH  |  COLORADO IN-STORE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404416648"/>
              </p:ext>
            </p:extLst>
          </p:nvPr>
        </p:nvGraphicFramePr>
        <p:xfrm>
          <a:off x="274320" y="731520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667306"/>
              </p:ext>
            </p:extLst>
          </p:nvPr>
        </p:nvGraphicFramePr>
        <p:xfrm>
          <a:off x="5852160" y="914400"/>
          <a:ext cx="3108960" cy="22860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$1.01M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6,904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10,580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47.1%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$1.49M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959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0.2%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$2.42M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62.4%</a:t>
                      </a:r>
                      <a:endParaRPr lang="en-US" sz="1000" dirty="0">
                        <a:solidFill>
                          <a:schemeClr val="accent6"/>
                        </a:solidFill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852160" y="33832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2025: +62.4% growth (+$930K)</a:t>
            </a:r>
            <a:endParaRPr lang="en-US" sz="1000" dirty="0">
              <a:solidFill>
                <a:schemeClr val="accent6">
                  <a:lumMod val="50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1000" b="1" dirty="0">
                <a:solidFill>
                  <a:schemeClr val="accent6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single-year increase in the period</a:t>
            </a:r>
            <a:endParaRPr lang="en-US" sz="10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3429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IN- STORE vs. ONLINE SALES  |  WEST REGION COMPARISON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120140"/>
            <a:ext cx="39319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1201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In-Store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822341"/>
              </p:ext>
            </p:extLst>
          </p:nvPr>
        </p:nvGraphicFramePr>
        <p:xfrm>
          <a:off x="274320" y="1623061"/>
          <a:ext cx="3931920" cy="250806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386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$6.41M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46,498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Transaction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$137.95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Jim Heck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 –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937760" y="1112520"/>
            <a:ext cx="3931920" cy="457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3776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Sales – West Region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28561"/>
              </p:ext>
            </p:extLst>
          </p:nvPr>
        </p:nvGraphicFramePr>
        <p:xfrm>
          <a:off x="4937760" y="1623061"/>
          <a:ext cx="3931920" cy="2508066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E75B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$12.45M*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Transactions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125,000+*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Transaction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$99.55*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Manager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Gilmore / Kelly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Period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 –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206240" y="25831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7D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BY PRODUCT CATEGORY  |  2025  |  COLORADO IN-STORE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184483554"/>
              </p:ext>
            </p:extLst>
          </p:nvPr>
        </p:nvGraphicFramePr>
        <p:xfrm>
          <a:off x="182880" y="685800"/>
          <a:ext cx="47548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120640" y="822960"/>
            <a:ext cx="374904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120640" y="822960"/>
            <a:ext cx="64008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285232" y="9326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73.6%</a:t>
            </a:r>
            <a:endParaRPr lang="en-US" sz="2600" dirty="0">
              <a:solidFill>
                <a:schemeClr val="accent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537960" y="9601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285232" y="15727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$1.78M — dominant category every year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120640" y="2194560"/>
            <a:ext cx="374904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120640" y="219456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85232" y="23042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13.1%</a:t>
            </a:r>
            <a:endParaRPr lang="en-US" sz="2600" dirty="0">
              <a:solidFill>
                <a:schemeClr val="accent2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37960" y="2331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85232" y="29443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$316K — strong Q1 seasonality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120640" y="3566160"/>
            <a:ext cx="3749040" cy="118872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120640" y="3566160"/>
            <a:ext cx="64008" cy="1188720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285232" y="367588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2600" dirty="0">
              <a:solidFill>
                <a:schemeClr val="accent6"/>
              </a:solidFill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37960" y="3703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Apparel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85232" y="43159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$129K — fastest growing category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" y="-762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-76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STORE PERFORMANCE RANKINGS  |  TOP PERFORMERS &amp; STORES NEEDING SUPPORT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73252"/>
            <a:ext cx="420624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28600" y="856488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TOP PERFORMING STORES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747313"/>
              </p:ext>
            </p:extLst>
          </p:nvPr>
        </p:nvGraphicFramePr>
        <p:xfrm>
          <a:off x="320040" y="1417320"/>
          <a:ext cx="4251960" cy="292608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Denver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$812K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Highest revenue all years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Greeley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growth 2024–2025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Aurora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$698K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transaction volume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Fort Collins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Rising steadily since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756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Boulder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$623K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Tech-dominant, solid base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4709160" y="832104"/>
            <a:ext cx="4206240" cy="38404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709160" y="822960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STORES NEEDING SUPPORT</a:t>
            </a:r>
            <a:endParaRPr lang="en-US" sz="11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415133"/>
              </p:ext>
            </p:extLst>
          </p:nvPr>
        </p:nvGraphicFramePr>
        <p:xfrm>
          <a:off x="4716780" y="1402080"/>
          <a:ext cx="4198620" cy="2941320"/>
        </p:xfrm>
        <a:graphic>
          <a:graphicData uri="http://schemas.openxmlformats.org/drawingml/2006/table">
            <a:tbl>
              <a:tblPr/>
              <a:tblGrid>
                <a:gridCol w="1135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Sedalia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Lowest revenue, high seasonal dips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New Castle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$213K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Flat growth, below avg transaction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Milliken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$224K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product mix performance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Berthoud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$241K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 count declining 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Wheat Ridge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C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$268K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stagnant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STORE LOCATIONS  |  18 TOTAL STORES  |  COLOR-CODED BY PERFORMANCE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" y="795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" y="10789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00200" y="932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28600" y="1453896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" y="1499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Berthoud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" y="1783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600200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157984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3192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Boulder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00200" y="23408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862072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9"/>
          <p:cNvSpPr>
            <a:spLocks/>
          </p:cNvSpPr>
          <p:nvPr/>
        </p:nvSpPr>
        <p:spPr>
          <a:xfrm>
            <a:off x="393192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Castle Rock</a:t>
            </a:r>
            <a:endParaRPr lang="en-US" sz="1100" dirty="0"/>
          </a:p>
        </p:txBody>
      </p:sp>
      <p:sp>
        <p:nvSpPr>
          <p:cNvPr id="22" name="Text 20"/>
          <p:cNvSpPr>
            <a:spLocks/>
          </p:cNvSpPr>
          <p:nvPr/>
        </p:nvSpPr>
        <p:spPr>
          <a:xfrm>
            <a:off x="393192" y="3191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704</a:t>
            </a:r>
            <a:endParaRPr lang="en-US" sz="800" dirty="0"/>
          </a:p>
        </p:txBody>
      </p:sp>
      <p:sp>
        <p:nvSpPr>
          <p:cNvPr id="23" name="Text 21"/>
          <p:cNvSpPr>
            <a:spLocks/>
          </p:cNvSpPr>
          <p:nvPr/>
        </p:nvSpPr>
        <p:spPr>
          <a:xfrm>
            <a:off x="160020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566160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3192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Denver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3192" y="3895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60020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270248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93192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Englewood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" y="4599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600200" y="4453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749808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364992" y="795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 Collins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64992" y="10789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0" y="932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0" y="1453896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64992" y="1499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Junction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64992" y="1783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708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572000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200400" y="2157984"/>
            <a:ext cx="283464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364992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Greeley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364992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709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572000" y="23408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0" y="2862072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364992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Lafayette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364992" y="3191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7200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3566160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364992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Littleton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364992" y="3895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57200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200400" y="4270248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364992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Loveland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364992" y="4599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572000" y="4453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172200" y="749808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336792" y="7955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Milliken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336792" y="107899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543800" y="9326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172200" y="1453896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6336792" y="149961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Castle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6336792" y="1783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543800" y="163677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172200" y="2157984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336792" y="220370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Parker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6336792" y="24871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715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7543800" y="23408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172200" y="2862072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336792" y="29077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Sedalia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6336792" y="31912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716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543800" y="30449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6172200" y="3566160"/>
            <a:ext cx="2834640" cy="59436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336792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Thornton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6336792" y="38953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717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54380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6172200" y="4270248"/>
            <a:ext cx="2834640" cy="594360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336792" y="43159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Wheat Ridge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6336792" y="459943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718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543800" y="4453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93192" y="4916424"/>
            <a:ext cx="182880" cy="164592"/>
          </a:xfrm>
          <a:prstGeom prst="rect">
            <a:avLst/>
          </a:prstGeom>
          <a:solidFill>
            <a:srgbClr val="F0FDF4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66928" y="48737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Performer (5)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3200400" y="4901184"/>
            <a:ext cx="182880" cy="164592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493008" y="48874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(8)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192012" y="4924044"/>
            <a:ext cx="182880" cy="164592"/>
          </a:xfrm>
          <a:prstGeom prst="rect">
            <a:avLst/>
          </a:prstGeom>
          <a:solidFill>
            <a:srgbClr val="FFF5F5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6419088" y="48874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Support (5)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 — WHERE TO FOCUS SALES ATTENTION  |  RECOMMENDATIONS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64008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38912" y="822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822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 Down on Denver &amp; Greeley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" y="12801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 stores consistently. Allocate more inventory, run local promotions, and staff up for Q1 back to school.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749808"/>
            <a:ext cx="64008" cy="13258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822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8229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Rescue Sedalia, New Castle &amp; Milliken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19472" y="128016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stores. Schedule territory visits. 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194560"/>
            <a:ext cx="64008" cy="13258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38912" y="22677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Technology (73% of Revenue)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272491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IT restocking and upsell bundles across all 18 stores before semester starts.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19472" y="226771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9240" y="22677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Capitalize on Textbook Season (Jan/Feb)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9472" y="2724912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Textbooks spike every Q1. Partner with Boulder, Fort Collins, and Greeley campuses now.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44269" y="3660648"/>
            <a:ext cx="4160520" cy="1325880"/>
          </a:xfrm>
          <a:prstGeom prst="rect">
            <a:avLst/>
          </a:prstGeom>
          <a:solidFill>
            <a:srgbClr val="D9E1F2"/>
          </a:solidFill>
          <a:ln w="12700">
            <a:solidFill>
              <a:srgbClr val="BDD7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080261" y="3657600"/>
            <a:ext cx="64008" cy="13258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02180" y="37581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5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87752" y="37261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Apparel — Fastest Rising Category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02180" y="40919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apparel campaigns at Aurora, Denver, and Boulder.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49240" y="371246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19472" y="4169664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Colorado Territory  |  West Region  |  Sales Analysis 2022–2025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stores  |  $6.41M total revenue  |  46,498 transactions  |  48-month period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Manager: Jim Heck  |  Regional Director: Cassie Chambers  |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608</Words>
  <Application>Microsoft Office PowerPoint</Application>
  <PresentationFormat>On-screen Show (16:9)</PresentationFormat>
  <Paragraphs>210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Colorado Territory Sales Analysis</dc:title>
  <dc:subject>PptxGenJS Presentation</dc:subject>
  <dc:creator>Jim Heck</dc:creator>
  <cp:lastModifiedBy>sthefanie ramirez</cp:lastModifiedBy>
  <cp:revision>4</cp:revision>
  <dcterms:created xsi:type="dcterms:W3CDTF">2026-05-01T08:39:45Z</dcterms:created>
  <dcterms:modified xsi:type="dcterms:W3CDTF">2026-05-01T21:10:13Z</dcterms:modified>
</cp:coreProperties>
</file>